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Refaite depuis le support HTML (communication.html), « 3.4 Restituer : tableau de bord, rapport, diapositives » ; 15 entrées au clic.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Refaite depuis le support HTML (communication.html), « Le tableau de bord HTML » ; 3 entrées au clic.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Refaite depuis le support HTML (communication.html), « Le rapport : un gabarit, l'IA, puis le PDF » ; 7 entrées au clic.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Refaite depuis le support HTML (communication.html), « Les diapositives : d'abord en HTML, puis le PowerPoint » ; 5 entrées au clic.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Bandeau"/>
          <p:cNvGrpSpPr/>
          <p:nvPr/>
        </p:nvGrpSpPr>
        <p:grpSpPr>
          <a:xfrm>
            <a:off x="0" y="0"/>
            <a:ext cx="12192000" cy="478036"/>
            <a:chOff x="0" y="0"/>
            <a:chExt cx="12192000" cy="478036"/>
          </a:xfrm>
        </p:grpSpPr>
        <p:sp>
          <p:nvSpPr>
            <p:cNvPr id="3" name="Rectangle 2"/>
            <p:cNvSpPr/>
            <p:nvPr/>
          </p:nvSpPr>
          <p:spPr>
            <a:xfrm>
              <a:off x="0" y="0"/>
              <a:ext cx="12192000" cy="478036"/>
            </a:xfrm>
            <a:prstGeom prst="rect">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3850" y="155972"/>
              <a:ext cx="3041166" cy="175468"/>
            </a:xfrm>
            <a:prstGeom prst="rect">
              <a:avLst/>
            </a:prstGeom>
            <a:noFill/>
          </p:spPr>
          <p:txBody>
            <a:bodyPr wrap="square" lIns="0" rIns="0" tIns="0" bIns="0" anchor="t">
              <a:spAutoFit/>
            </a:bodyPr>
            <a:lstStyle/>
            <a:p>
              <a:pPr algn="l">
                <a:lnSpc>
                  <a:spcPct val="133000"/>
                </a:lnSpc>
              </a:pPr>
              <a:r>
                <a:rPr sz="850" b="1">
                  <a:solidFill>
                    <a:srgbClr val="BA1C3A"/>
                  </a:solidFill>
                  <a:latin typeface="Segoe UI Semibold"/>
                </a:rPr>
                <a:t>3 · COMMUNICATION ET TABLEAUX DE BORD</a:t>
              </a:r>
            </a:p>
          </p:txBody>
        </p:sp>
        <p:sp>
          <p:nvSpPr>
            <p:cNvPr id="5" name="TextBox 4"/>
            <p:cNvSpPr txBox="1"/>
            <p:nvPr/>
          </p:nvSpPr>
          <p:spPr>
            <a:xfrm>
              <a:off x="3325713"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6" name="TextBox 5"/>
            <p:cNvSpPr txBox="1"/>
            <p:nvPr/>
          </p:nvSpPr>
          <p:spPr>
            <a:xfrm>
              <a:off x="3502372" y="143768"/>
              <a:ext cx="853023" cy="200025"/>
            </a:xfrm>
            <a:prstGeom prst="rect">
              <a:avLst/>
            </a:prstGeom>
            <a:noFill/>
          </p:spPr>
          <p:txBody>
            <a:bodyPr wrap="square" lIns="0" rIns="0" tIns="0" bIns="0" anchor="t">
              <a:spAutoFit/>
            </a:bodyPr>
            <a:lstStyle/>
            <a:p>
              <a:pPr algn="l">
                <a:lnSpc>
                  <a:spcPct val="133000"/>
                </a:lnSpc>
              </a:pPr>
              <a:r>
                <a:rPr sz="1000" b="1">
                  <a:solidFill>
                    <a:srgbClr val="13264A"/>
                  </a:solidFill>
                  <a:latin typeface="Segoe UI Semibold"/>
                </a:rPr>
                <a:t>3.4 Restituer</a:t>
              </a:r>
            </a:p>
          </p:txBody>
        </p:sp>
      </p:grpSp>
      <p:grpSp>
        <p:nvGrpSpPr>
          <p:cNvPr id="7" name="Titre"/>
          <p:cNvGrpSpPr/>
          <p:nvPr/>
        </p:nvGrpSpPr>
        <p:grpSpPr>
          <a:xfrm>
            <a:off x="571500" y="2412058"/>
            <a:ext cx="11529060" cy="443656"/>
            <a:chOff x="571500" y="2412058"/>
            <a:chExt cx="11529060" cy="443656"/>
          </a:xfrm>
        </p:grpSpPr>
        <p:sp>
          <p:nvSpPr>
            <p:cNvPr id="8" name="TextBox 7"/>
            <p:cNvSpPr txBox="1"/>
            <p:nvPr/>
          </p:nvSpPr>
          <p:spPr>
            <a:xfrm>
              <a:off x="571500" y="2412058"/>
              <a:ext cx="11529060" cy="443656"/>
            </a:xfrm>
            <a:prstGeom prst="rect">
              <a:avLst/>
            </a:prstGeom>
            <a:noFill/>
          </p:spPr>
          <p:txBody>
            <a:bodyPr wrap="square" lIns="0" rIns="0" tIns="0" bIns="0" anchor="t">
              <a:spAutoFit/>
            </a:bodyPr>
            <a:lstStyle/>
            <a:p>
              <a:pPr algn="l">
                <a:lnSpc>
                  <a:spcPct val="93000"/>
                </a:lnSpc>
              </a:pPr>
              <a:r>
                <a:rPr sz="3100" b="1">
                  <a:solidFill>
                    <a:srgbClr val="3B547D"/>
                  </a:solidFill>
                  <a:latin typeface="Segoe UI Semibold"/>
                </a:rPr>
                <a:t>3.4</a:t>
              </a:r>
              <a:r>
                <a:rPr sz="3100" b="1">
                  <a:solidFill>
                    <a:srgbClr val="13264A"/>
                  </a:solidFill>
                  <a:latin typeface="Segoe UI Semibold"/>
                </a:rPr>
                <a:t> Restituer : tableau de bord, rapport, diapositives</a:t>
              </a:r>
            </a:p>
          </p:txBody>
        </p:sp>
      </p:grpSp>
      <p:grpSp>
        <p:nvGrpSpPr>
          <p:cNvPr id="9" name="Bloc 1"/>
          <p:cNvGrpSpPr/>
          <p:nvPr/>
        </p:nvGrpSpPr>
        <p:grpSpPr>
          <a:xfrm>
            <a:off x="571500" y="1850082"/>
            <a:ext cx="1922859" cy="314325"/>
            <a:chOff x="571500" y="1850082"/>
            <a:chExt cx="1922859" cy="314325"/>
          </a:xfrm>
        </p:grpSpPr>
        <p:sp>
          <p:nvSpPr>
            <p:cNvPr id="10" name="Rounded Rectangle 9"/>
            <p:cNvSpPr/>
            <p:nvPr/>
          </p:nvSpPr>
          <p:spPr>
            <a:xfrm>
              <a:off x="571500" y="1850082"/>
              <a:ext cx="1922859" cy="314325"/>
            </a:xfrm>
            <a:prstGeom prst="roundRect">
              <a:avLst>
                <a:gd name="adj" fmla="val 50000"/>
              </a:avLst>
            </a:prstGeom>
            <a:no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850" y="1907232"/>
              <a:ext cx="1760506" cy="200025"/>
            </a:xfrm>
            <a:prstGeom prst="rect">
              <a:avLst/>
            </a:prstGeom>
            <a:noFill/>
          </p:spPr>
          <p:txBody>
            <a:bodyPr wrap="square" lIns="0" rIns="0" tIns="0" bIns="0" anchor="t">
              <a:spAutoFit/>
            </a:bodyPr>
            <a:lstStyle/>
            <a:p>
              <a:pPr algn="l">
                <a:lnSpc>
                  <a:spcPct val="133000"/>
                </a:lnSpc>
              </a:pPr>
              <a:r>
                <a:rPr sz="1000" b="1">
                  <a:solidFill>
                    <a:srgbClr val="7D92AC"/>
                  </a:solidFill>
                  <a:latin typeface="Segoe UI Semibold"/>
                </a:rPr>
                <a:t>3.1</a:t>
              </a:r>
              <a:r>
                <a:rPr sz="1000" b="1">
                  <a:solidFill>
                    <a:srgbClr val="78828F"/>
                  </a:solidFill>
                  <a:latin typeface="Segoe UI Semibold"/>
                </a:rPr>
                <a:t> Versionner les résultats</a:t>
              </a:r>
            </a:p>
          </p:txBody>
        </p:sp>
      </p:grpSp>
      <p:grpSp>
        <p:nvGrpSpPr>
          <p:cNvPr id="12" name="Bloc 2"/>
          <p:cNvGrpSpPr/>
          <p:nvPr/>
        </p:nvGrpSpPr>
        <p:grpSpPr>
          <a:xfrm>
            <a:off x="2570559" y="1850082"/>
            <a:ext cx="1311771" cy="314325"/>
            <a:chOff x="2570559" y="1850082"/>
            <a:chExt cx="1311771" cy="314325"/>
          </a:xfrm>
        </p:grpSpPr>
        <p:sp>
          <p:nvSpPr>
            <p:cNvPr id="13" name="Rounded Rectangle 12"/>
            <p:cNvSpPr/>
            <p:nvPr/>
          </p:nvSpPr>
          <p:spPr>
            <a:xfrm>
              <a:off x="2570559" y="1850082"/>
              <a:ext cx="1311771" cy="314325"/>
            </a:xfrm>
            <a:prstGeom prst="roundRect">
              <a:avLst>
                <a:gd name="adj" fmla="val 50000"/>
              </a:avLst>
            </a:prstGeom>
            <a:no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03909" y="1907232"/>
              <a:ext cx="1124974" cy="200025"/>
            </a:xfrm>
            <a:prstGeom prst="rect">
              <a:avLst/>
            </a:prstGeom>
            <a:noFill/>
          </p:spPr>
          <p:txBody>
            <a:bodyPr wrap="square" lIns="0" rIns="0" tIns="0" bIns="0" anchor="t">
              <a:spAutoFit/>
            </a:bodyPr>
            <a:lstStyle/>
            <a:p>
              <a:pPr algn="l">
                <a:lnSpc>
                  <a:spcPct val="133000"/>
                </a:lnSpc>
              </a:pPr>
              <a:r>
                <a:rPr sz="1000" b="1">
                  <a:solidFill>
                    <a:srgbClr val="7D92AC"/>
                  </a:solidFill>
                  <a:latin typeface="Segoe UI Semibold"/>
                </a:rPr>
                <a:t>3.2</a:t>
              </a:r>
              <a:r>
                <a:rPr sz="1000" b="1">
                  <a:solidFill>
                    <a:srgbClr val="78828F"/>
                  </a:solidFill>
                  <a:latin typeface="Segoe UI Semibold"/>
                </a:rPr>
                <a:t> La traçabilité</a:t>
              </a:r>
            </a:p>
          </p:txBody>
        </p:sp>
      </p:grpSp>
      <p:grpSp>
        <p:nvGrpSpPr>
          <p:cNvPr id="15" name="Bloc 3"/>
          <p:cNvGrpSpPr/>
          <p:nvPr/>
        </p:nvGrpSpPr>
        <p:grpSpPr>
          <a:xfrm>
            <a:off x="3958531" y="1850082"/>
            <a:ext cx="1658987" cy="314325"/>
            <a:chOff x="3958531" y="1850082"/>
            <a:chExt cx="1658987" cy="314325"/>
          </a:xfrm>
        </p:grpSpPr>
        <p:sp>
          <p:nvSpPr>
            <p:cNvPr id="16" name="Rounded Rectangle 15"/>
            <p:cNvSpPr/>
            <p:nvPr/>
          </p:nvSpPr>
          <p:spPr>
            <a:xfrm>
              <a:off x="3958531" y="1850082"/>
              <a:ext cx="1658987" cy="314325"/>
            </a:xfrm>
            <a:prstGeom prst="roundRect">
              <a:avLst>
                <a:gd name="adj" fmla="val 50000"/>
              </a:avLst>
            </a:prstGeom>
            <a:no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1881" y="1907232"/>
              <a:ext cx="1486079" cy="200025"/>
            </a:xfrm>
            <a:prstGeom prst="rect">
              <a:avLst/>
            </a:prstGeom>
            <a:noFill/>
          </p:spPr>
          <p:txBody>
            <a:bodyPr wrap="square" lIns="0" rIns="0" tIns="0" bIns="0" anchor="t">
              <a:spAutoFit/>
            </a:bodyPr>
            <a:lstStyle/>
            <a:p>
              <a:pPr algn="l">
                <a:lnSpc>
                  <a:spcPct val="133000"/>
                </a:lnSpc>
              </a:pPr>
              <a:r>
                <a:rPr sz="1000" b="1">
                  <a:solidFill>
                    <a:srgbClr val="7D92AC"/>
                  </a:solidFill>
                  <a:latin typeface="Segoe UI Semibold"/>
                </a:rPr>
                <a:t>3.3</a:t>
              </a:r>
              <a:r>
                <a:rPr sz="1000" b="1">
                  <a:solidFill>
                    <a:srgbClr val="78828F"/>
                  </a:solidFill>
                  <a:latin typeface="Segoe UI Semibold"/>
                </a:rPr>
                <a:t> Restituer un calcul</a:t>
              </a:r>
            </a:p>
          </p:txBody>
        </p:sp>
      </p:grpSp>
      <p:grpSp>
        <p:nvGrpSpPr>
          <p:cNvPr id="18" name="Bloc 4"/>
          <p:cNvGrpSpPr/>
          <p:nvPr/>
        </p:nvGrpSpPr>
        <p:grpSpPr>
          <a:xfrm>
            <a:off x="5693718" y="1850082"/>
            <a:ext cx="1092547" cy="314325"/>
            <a:chOff x="5693718" y="1850082"/>
            <a:chExt cx="1092547" cy="314325"/>
          </a:xfrm>
        </p:grpSpPr>
        <p:sp>
          <p:nvSpPr>
            <p:cNvPr id="19" name="Rounded Rectangle 18"/>
            <p:cNvSpPr/>
            <p:nvPr/>
          </p:nvSpPr>
          <p:spPr>
            <a:xfrm>
              <a:off x="5693718" y="1850082"/>
              <a:ext cx="1092547" cy="314325"/>
            </a:xfrm>
            <a:prstGeom prst="roundRect">
              <a:avLst>
                <a:gd name="adj" fmla="val 50000"/>
              </a:avLst>
            </a:prstGeom>
            <a:solidFill>
              <a:srgbClr val="13264A"/>
            </a:solidFill>
            <a:ln w="9525">
              <a:solidFill>
                <a:srgbClr val="132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7068" y="1907232"/>
              <a:ext cx="896981" cy="200025"/>
            </a:xfrm>
            <a:prstGeom prst="rect">
              <a:avLst/>
            </a:prstGeom>
            <a:noFill/>
          </p:spPr>
          <p:txBody>
            <a:bodyPr wrap="square" lIns="0" rIns="0" tIns="0" bIns="0" anchor="t">
              <a:spAutoFit/>
            </a:bodyPr>
            <a:lstStyle/>
            <a:p>
              <a:pPr algn="l">
                <a:lnSpc>
                  <a:spcPct val="133000"/>
                </a:lnSpc>
              </a:pPr>
              <a:r>
                <a:rPr sz="1000" b="1">
                  <a:solidFill>
                    <a:srgbClr val="E8536E"/>
                  </a:solidFill>
                  <a:latin typeface="Segoe UI Semibold"/>
                </a:rPr>
                <a:t>3.4</a:t>
              </a:r>
              <a:r>
                <a:rPr sz="1000" b="1">
                  <a:solidFill>
                    <a:srgbClr val="FFFFFF"/>
                  </a:solidFill>
                  <a:latin typeface="Segoe UI Semibold"/>
                </a:rPr>
                <a:t> Restituer</a:t>
              </a:r>
            </a:p>
          </p:txBody>
        </p:sp>
      </p:grpSp>
      <p:grpSp>
        <p:nvGrpSpPr>
          <p:cNvPr id="21" name="Bloc 5"/>
          <p:cNvGrpSpPr/>
          <p:nvPr/>
        </p:nvGrpSpPr>
        <p:grpSpPr>
          <a:xfrm>
            <a:off x="6862465" y="1850082"/>
            <a:ext cx="1270843" cy="314325"/>
            <a:chOff x="6862465" y="1850082"/>
            <a:chExt cx="1270843" cy="314325"/>
          </a:xfrm>
        </p:grpSpPr>
        <p:sp>
          <p:nvSpPr>
            <p:cNvPr id="22" name="Rounded Rectangle 21"/>
            <p:cNvSpPr/>
            <p:nvPr/>
          </p:nvSpPr>
          <p:spPr>
            <a:xfrm>
              <a:off x="6862465" y="1850082"/>
              <a:ext cx="1270843" cy="314325"/>
            </a:xfrm>
            <a:prstGeom prst="roundRect">
              <a:avLst>
                <a:gd name="adj" fmla="val 50000"/>
              </a:avLst>
            </a:prstGeom>
            <a:no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815" y="1907232"/>
              <a:ext cx="1082409" cy="200025"/>
            </a:xfrm>
            <a:prstGeom prst="rect">
              <a:avLst/>
            </a:prstGeom>
            <a:noFill/>
          </p:spPr>
          <p:txBody>
            <a:bodyPr wrap="square" lIns="0" rIns="0" tIns="0" bIns="0" anchor="t">
              <a:spAutoFit/>
            </a:bodyPr>
            <a:lstStyle/>
            <a:p>
              <a:pPr algn="l">
                <a:lnSpc>
                  <a:spcPct val="133000"/>
                </a:lnSpc>
              </a:pPr>
              <a:r>
                <a:rPr sz="1000" b="1">
                  <a:solidFill>
                    <a:srgbClr val="7D92AC"/>
                  </a:solidFill>
                  <a:latin typeface="Segoe UI Semibold"/>
                </a:rPr>
                <a:t>3.5</a:t>
              </a:r>
              <a:r>
                <a:rPr sz="1000" b="1">
                  <a:solidFill>
                    <a:srgbClr val="78828F"/>
                  </a:solidFill>
                  <a:latin typeface="Segoe UI Semibold"/>
                </a:rPr>
                <a:t> Documenter</a:t>
              </a:r>
            </a:p>
          </p:txBody>
        </p:sp>
      </p:grpSp>
      <p:grpSp>
        <p:nvGrpSpPr>
          <p:cNvPr id="24" name="Bloc 6"/>
          <p:cNvGrpSpPr/>
          <p:nvPr/>
        </p:nvGrpSpPr>
        <p:grpSpPr>
          <a:xfrm>
            <a:off x="8209508" y="1850082"/>
            <a:ext cx="923925" cy="314325"/>
            <a:chOff x="8209508" y="1850082"/>
            <a:chExt cx="923925" cy="314325"/>
          </a:xfrm>
        </p:grpSpPr>
        <p:sp>
          <p:nvSpPr>
            <p:cNvPr id="25" name="Rounded Rectangle 24"/>
            <p:cNvSpPr/>
            <p:nvPr/>
          </p:nvSpPr>
          <p:spPr>
            <a:xfrm>
              <a:off x="8209508" y="1850082"/>
              <a:ext cx="923925" cy="314325"/>
            </a:xfrm>
            <a:prstGeom prst="roundRect">
              <a:avLst>
                <a:gd name="adj" fmla="val 50000"/>
              </a:avLst>
            </a:prstGeom>
            <a:no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2858" y="1907232"/>
              <a:ext cx="721614" cy="200025"/>
            </a:xfrm>
            <a:prstGeom prst="rect">
              <a:avLst/>
            </a:prstGeom>
            <a:noFill/>
          </p:spPr>
          <p:txBody>
            <a:bodyPr wrap="square" lIns="0" rIns="0" tIns="0" bIns="0" anchor="t">
              <a:spAutoFit/>
            </a:bodyPr>
            <a:lstStyle/>
            <a:p>
              <a:pPr algn="l">
                <a:lnSpc>
                  <a:spcPct val="133000"/>
                </a:lnSpc>
              </a:pPr>
              <a:r>
                <a:rPr sz="1000" b="1">
                  <a:solidFill>
                    <a:srgbClr val="7D92AC"/>
                  </a:solidFill>
                  <a:latin typeface="Segoe UI Semibold"/>
                </a:rPr>
                <a:t>3.6</a:t>
              </a:r>
              <a:r>
                <a:rPr sz="1000" b="1">
                  <a:solidFill>
                    <a:srgbClr val="78828F"/>
                  </a:solidFill>
                  <a:latin typeface="Segoe UI Semibold"/>
                </a:rPr>
                <a:t> Atelier</a:t>
              </a:r>
            </a:p>
          </p:txBody>
        </p:sp>
      </p:grpSp>
      <p:grpSp>
        <p:nvGrpSpPr>
          <p:cNvPr id="27" name="Bloc 7"/>
          <p:cNvGrpSpPr/>
          <p:nvPr/>
        </p:nvGrpSpPr>
        <p:grpSpPr>
          <a:xfrm>
            <a:off x="571500" y="3027164"/>
            <a:ext cx="11529060" cy="1035844"/>
            <a:chOff x="571500" y="3027164"/>
            <a:chExt cx="11529060" cy="1035844"/>
          </a:xfrm>
        </p:grpSpPr>
        <p:sp>
          <p:nvSpPr>
            <p:cNvPr id="28" name="TextBox 27"/>
            <p:cNvSpPr txBox="1"/>
            <p:nvPr/>
          </p:nvSpPr>
          <p:spPr>
            <a:xfrm>
              <a:off x="571500" y="3027164"/>
              <a:ext cx="11529060" cy="1035844"/>
            </a:xfrm>
            <a:prstGeom prst="rect">
              <a:avLst/>
            </a:prstGeom>
            <a:noFill/>
          </p:spPr>
          <p:txBody>
            <a:bodyPr wrap="square" lIns="0" rIns="0" tIns="0" bIns="0" anchor="t">
              <a:spAutoFit/>
            </a:bodyPr>
            <a:lstStyle/>
            <a:p>
              <a:pPr algn="l">
                <a:lnSpc>
                  <a:spcPct val="133000"/>
                </a:lnSpc>
              </a:pPr>
              <a:r>
                <a:rPr sz="1300" b="0">
                  <a:solidFill>
                    <a:srgbClr val="1F2733"/>
                  </a:solidFill>
                  <a:latin typeface="Segoe UI"/>
                </a:rPr>
                <a:t>Pour présenter des résultats, on montre souvent l'outil dans Excel. C'est courant, et on ne va pas revenir sur le fait que ce n'est ni assez moderne ni assez joli pour une interface. Un tableau de bord HTML restitue mieux, et il remplace déjà une partie du PowerPoint et de l'Excel. Le rapport et les diapositives suivent le même chemin : l'IA les rédige et les met en forme, à partir des chiffres, et l'actuaire relit ce qui engage sa signature.</a:t>
              </a:r>
            </a:p>
          </p:txBody>
        </p:sp>
      </p:grpSp>
      <p:grpSp>
        <p:nvGrpSpPr>
          <p:cNvPr id="29" name="Bloc 8"/>
          <p:cNvGrpSpPr/>
          <p:nvPr/>
        </p:nvGrpSpPr>
        <p:grpSpPr>
          <a:xfrm>
            <a:off x="571500" y="4415433"/>
            <a:ext cx="5628132" cy="205680"/>
            <a:chOff x="571500" y="4415433"/>
            <a:chExt cx="5628132" cy="205680"/>
          </a:xfrm>
        </p:grpSpPr>
        <p:sp>
          <p:nvSpPr>
            <p:cNvPr id="30" name="Oval 29"/>
            <p:cNvSpPr/>
            <p:nvPr/>
          </p:nvSpPr>
          <p:spPr>
            <a:xfrm>
              <a:off x="571500" y="4499253"/>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31" name="TextBox 30"/>
            <p:cNvSpPr txBox="1"/>
            <p:nvPr/>
          </p:nvSpPr>
          <p:spPr>
            <a:xfrm>
              <a:off x="742950" y="4415433"/>
              <a:ext cx="5456682" cy="205680"/>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Le tableau de bord HTML</a:t>
              </a:r>
            </a:p>
          </p:txBody>
        </p:sp>
      </p:grpSp>
      <p:grpSp>
        <p:nvGrpSpPr>
          <p:cNvPr id="32" name="Bloc 9"/>
          <p:cNvGrpSpPr/>
          <p:nvPr/>
        </p:nvGrpSpPr>
        <p:grpSpPr>
          <a:xfrm>
            <a:off x="6238875" y="4415433"/>
            <a:ext cx="5628132" cy="205680"/>
            <a:chOff x="6238875" y="4415433"/>
            <a:chExt cx="5628132" cy="205680"/>
          </a:xfrm>
        </p:grpSpPr>
        <p:sp>
          <p:nvSpPr>
            <p:cNvPr id="33" name="Oval 32"/>
            <p:cNvSpPr/>
            <p:nvPr/>
          </p:nvSpPr>
          <p:spPr>
            <a:xfrm>
              <a:off x="6238875" y="4499253"/>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34" name="TextBox 33"/>
            <p:cNvSpPr txBox="1"/>
            <p:nvPr/>
          </p:nvSpPr>
          <p:spPr>
            <a:xfrm>
              <a:off x="6410325" y="4415433"/>
              <a:ext cx="5456682" cy="205680"/>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Le rapport : un gabarit, l'IA, puis le PDF</a:t>
              </a:r>
            </a:p>
          </p:txBody>
        </p:sp>
      </p:grpSp>
      <p:grpSp>
        <p:nvGrpSpPr>
          <p:cNvPr id="35" name="Bloc 10"/>
          <p:cNvGrpSpPr/>
          <p:nvPr/>
        </p:nvGrpSpPr>
        <p:grpSpPr>
          <a:xfrm>
            <a:off x="571500" y="4697313"/>
            <a:ext cx="5628132" cy="205681"/>
            <a:chOff x="571500" y="4697313"/>
            <a:chExt cx="5628132" cy="205681"/>
          </a:xfrm>
        </p:grpSpPr>
        <p:sp>
          <p:nvSpPr>
            <p:cNvPr id="36" name="Oval 35"/>
            <p:cNvSpPr/>
            <p:nvPr/>
          </p:nvSpPr>
          <p:spPr>
            <a:xfrm>
              <a:off x="571500" y="4781133"/>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37" name="TextBox 36"/>
            <p:cNvSpPr txBox="1"/>
            <p:nvPr/>
          </p:nvSpPr>
          <p:spPr>
            <a:xfrm>
              <a:off x="742950" y="4697313"/>
              <a:ext cx="5456682" cy="205681"/>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Les diapositives : d'abord en HTML, puis le PowerPoint</a:t>
              </a:r>
            </a:p>
          </p:txBody>
        </p:sp>
      </p:grpSp>
      <p:grpSp>
        <p:nvGrpSpPr>
          <p:cNvPr id="38" name="Bloc 11"/>
          <p:cNvGrpSpPr/>
          <p:nvPr/>
        </p:nvGrpSpPr>
        <p:grpSpPr>
          <a:xfrm>
            <a:off x="6238875" y="4697313"/>
            <a:ext cx="5628132" cy="205681"/>
            <a:chOff x="6238875" y="4697313"/>
            <a:chExt cx="5628132" cy="205681"/>
          </a:xfrm>
        </p:grpSpPr>
        <p:sp>
          <p:nvSpPr>
            <p:cNvPr id="39" name="Oval 38"/>
            <p:cNvSpPr/>
            <p:nvPr/>
          </p:nvSpPr>
          <p:spPr>
            <a:xfrm>
              <a:off x="6238875" y="4781133"/>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40" name="TextBox 39"/>
            <p:cNvSpPr txBox="1"/>
            <p:nvPr/>
          </p:nvSpPr>
          <p:spPr>
            <a:xfrm>
              <a:off x="6410325" y="4697313"/>
              <a:ext cx="5456682" cy="205681"/>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Et les outils classiques ?</a:t>
              </a:r>
            </a:p>
          </p:txBody>
        </p:sp>
      </p:grpSp>
      <p:grpSp>
        <p:nvGrpSpPr>
          <p:cNvPr id="41" name="Bloc 12"/>
          <p:cNvGrpSpPr/>
          <p:nvPr/>
        </p:nvGrpSpPr>
        <p:grpSpPr>
          <a:xfrm>
            <a:off x="571500" y="4979194"/>
            <a:ext cx="5628132" cy="205681"/>
            <a:chOff x="571500" y="4979194"/>
            <a:chExt cx="5628132" cy="205681"/>
          </a:xfrm>
        </p:grpSpPr>
        <p:sp>
          <p:nvSpPr>
            <p:cNvPr id="42" name="Oval 41"/>
            <p:cNvSpPr/>
            <p:nvPr/>
          </p:nvSpPr>
          <p:spPr>
            <a:xfrm>
              <a:off x="571500" y="5063014"/>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43" name="TextBox 42"/>
            <p:cNvSpPr txBox="1"/>
            <p:nvPr/>
          </p:nvSpPr>
          <p:spPr>
            <a:xfrm>
              <a:off x="742950" y="4979194"/>
              <a:ext cx="5456682" cy="205681"/>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Questions</a:t>
              </a:r>
            </a:p>
          </p:txBody>
        </p:sp>
      </p:grpSp>
      <p:grpSp>
        <p:nvGrpSpPr>
          <p:cNvPr id="44" name="Bloc 13"/>
          <p:cNvGrpSpPr/>
          <p:nvPr/>
        </p:nvGrpSpPr>
        <p:grpSpPr>
          <a:xfrm>
            <a:off x="6238875" y="4979194"/>
            <a:ext cx="5628132" cy="205681"/>
            <a:chOff x="6238875" y="4979194"/>
            <a:chExt cx="5628132" cy="205681"/>
          </a:xfrm>
        </p:grpSpPr>
        <p:sp>
          <p:nvSpPr>
            <p:cNvPr id="45" name="Oval 44"/>
            <p:cNvSpPr/>
            <p:nvPr/>
          </p:nvSpPr>
          <p:spPr>
            <a:xfrm>
              <a:off x="6238875" y="5063014"/>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46" name="TextBox 45"/>
            <p:cNvSpPr txBox="1"/>
            <p:nvPr/>
          </p:nvSpPr>
          <p:spPr>
            <a:xfrm>
              <a:off x="6410325" y="4979194"/>
              <a:ext cx="5456682" cy="205681"/>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Sources</a:t>
              </a:r>
            </a:p>
          </p:txBody>
        </p:sp>
      </p:grpSp>
      <p:grpSp>
        <p:nvGrpSpPr>
          <p:cNvPr id="47" name="Bloc 14"/>
          <p:cNvGrpSpPr/>
          <p:nvPr/>
        </p:nvGrpSpPr>
        <p:grpSpPr>
          <a:xfrm>
            <a:off x="571500" y="5261074"/>
            <a:ext cx="5628132" cy="205681"/>
            <a:chOff x="571500" y="5261074"/>
            <a:chExt cx="5628132" cy="205681"/>
          </a:xfrm>
        </p:grpSpPr>
        <p:sp>
          <p:nvSpPr>
            <p:cNvPr id="48" name="Oval 47"/>
            <p:cNvSpPr/>
            <p:nvPr/>
          </p:nvSpPr>
          <p:spPr>
            <a:xfrm>
              <a:off x="571500" y="5344894"/>
              <a:ext cx="57150" cy="57150"/>
            </a:xfrm>
            <a:prstGeom prst="ellipse">
              <a:avLst/>
            </a:prstGeom>
            <a:solidFill>
              <a:srgbClr val="7D92A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rgbClr val="1F2733"/>
                  </a:solidFill>
                  <a:latin typeface="Segoe UI Semibold"/>
                </a:rPr>
                <a:t/>
              </a:r>
            </a:p>
          </p:txBody>
        </p:sp>
        <p:sp>
          <p:nvSpPr>
            <p:cNvPr id="49" name="TextBox 48"/>
            <p:cNvSpPr txBox="1"/>
            <p:nvPr/>
          </p:nvSpPr>
          <p:spPr>
            <a:xfrm>
              <a:off x="742950" y="5261074"/>
              <a:ext cx="5456682" cy="205681"/>
            </a:xfrm>
            <a:prstGeom prst="rect">
              <a:avLst/>
            </a:prstGeom>
            <a:noFill/>
          </p:spPr>
          <p:txBody>
            <a:bodyPr wrap="square" lIns="0" rIns="0" tIns="0" bIns="0" anchor="t">
              <a:spAutoFit/>
            </a:bodyPr>
            <a:lstStyle/>
            <a:p>
              <a:pPr algn="l">
                <a:lnSpc>
                  <a:spcPct val="113000"/>
                </a:lnSpc>
              </a:pPr>
              <a:r>
                <a:rPr sz="1200" b="0">
                  <a:solidFill>
                    <a:srgbClr val="1F2733"/>
                  </a:solidFill>
                  <a:latin typeface="Segoe UI"/>
                </a:rPr>
                <a:t>Ce qu'il faut garder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Bandeau"/>
          <p:cNvGrpSpPr/>
          <p:nvPr/>
        </p:nvGrpSpPr>
        <p:grpSpPr>
          <a:xfrm>
            <a:off x="0" y="0"/>
            <a:ext cx="12192000" cy="478036"/>
            <a:chOff x="0" y="0"/>
            <a:chExt cx="12192000" cy="478036"/>
          </a:xfrm>
        </p:grpSpPr>
        <p:sp>
          <p:nvSpPr>
            <p:cNvPr id="3" name="Rectangle 2"/>
            <p:cNvSpPr/>
            <p:nvPr/>
          </p:nvSpPr>
          <p:spPr>
            <a:xfrm>
              <a:off x="0" y="0"/>
              <a:ext cx="12192000" cy="478036"/>
            </a:xfrm>
            <a:prstGeom prst="rect">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3850" y="155972"/>
              <a:ext cx="3041166" cy="175468"/>
            </a:xfrm>
            <a:prstGeom prst="rect">
              <a:avLst/>
            </a:prstGeom>
            <a:noFill/>
          </p:spPr>
          <p:txBody>
            <a:bodyPr wrap="square" lIns="0" rIns="0" tIns="0" bIns="0" anchor="t">
              <a:spAutoFit/>
            </a:bodyPr>
            <a:lstStyle/>
            <a:p>
              <a:pPr algn="l">
                <a:lnSpc>
                  <a:spcPct val="133000"/>
                </a:lnSpc>
              </a:pPr>
              <a:r>
                <a:rPr sz="850" b="1">
                  <a:solidFill>
                    <a:srgbClr val="BA1C3A"/>
                  </a:solidFill>
                  <a:latin typeface="Segoe UI Semibold"/>
                </a:rPr>
                <a:t>3 · COMMUNICATION ET TABLEAUX DE BORD</a:t>
              </a:r>
            </a:p>
          </p:txBody>
        </p:sp>
        <p:sp>
          <p:nvSpPr>
            <p:cNvPr id="5" name="TextBox 4"/>
            <p:cNvSpPr txBox="1"/>
            <p:nvPr/>
          </p:nvSpPr>
          <p:spPr>
            <a:xfrm>
              <a:off x="3325713"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6" name="TextBox 5"/>
            <p:cNvSpPr txBox="1"/>
            <p:nvPr/>
          </p:nvSpPr>
          <p:spPr>
            <a:xfrm>
              <a:off x="3502372" y="143768"/>
              <a:ext cx="853023" cy="200025"/>
            </a:xfrm>
            <a:prstGeom prst="rect">
              <a:avLst/>
            </a:prstGeom>
            <a:noFill/>
          </p:spPr>
          <p:txBody>
            <a:bodyPr wrap="square" lIns="0" rIns="0" tIns="0" bIns="0" anchor="t">
              <a:spAutoFit/>
            </a:bodyPr>
            <a:lstStyle/>
            <a:p>
              <a:pPr algn="l">
                <a:lnSpc>
                  <a:spcPct val="133000"/>
                </a:lnSpc>
              </a:pPr>
              <a:r>
                <a:rPr sz="1000" b="1">
                  <a:solidFill>
                    <a:srgbClr val="13264A"/>
                  </a:solidFill>
                  <a:latin typeface="Segoe UI Semibold"/>
                </a:rPr>
                <a:t>3.4 Restituer</a:t>
              </a:r>
            </a:p>
          </p:txBody>
        </p:sp>
        <p:sp>
          <p:nvSpPr>
            <p:cNvPr id="7" name="TextBox 6"/>
            <p:cNvSpPr txBox="1"/>
            <p:nvPr/>
          </p:nvSpPr>
          <p:spPr>
            <a:xfrm>
              <a:off x="4400252"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8" name="TextBox 7"/>
            <p:cNvSpPr txBox="1"/>
            <p:nvPr/>
          </p:nvSpPr>
          <p:spPr>
            <a:xfrm>
              <a:off x="4576911" y="146298"/>
              <a:ext cx="1560219" cy="194965"/>
            </a:xfrm>
            <a:prstGeom prst="rect">
              <a:avLst/>
            </a:prstGeom>
            <a:noFill/>
          </p:spPr>
          <p:txBody>
            <a:bodyPr wrap="square" lIns="0" rIns="0" tIns="0" bIns="0" anchor="t">
              <a:spAutoFit/>
            </a:bodyPr>
            <a:lstStyle/>
            <a:p>
              <a:pPr algn="l">
                <a:lnSpc>
                  <a:spcPct val="133000"/>
                </a:lnSpc>
              </a:pPr>
              <a:r>
                <a:rPr sz="950" b="0">
                  <a:solidFill>
                    <a:srgbClr val="4A5567"/>
                  </a:solidFill>
                  <a:latin typeface="Segoe UI"/>
                </a:rPr>
                <a:t>Le tableau de bord HTML</a:t>
              </a:r>
            </a:p>
          </p:txBody>
        </p:sp>
      </p:grpSp>
      <p:grpSp>
        <p:nvGrpSpPr>
          <p:cNvPr id="9" name="Titre"/>
          <p:cNvGrpSpPr/>
          <p:nvPr/>
        </p:nvGrpSpPr>
        <p:grpSpPr>
          <a:xfrm>
            <a:off x="571500" y="697260"/>
            <a:ext cx="11529060" cy="359476"/>
            <a:chOff x="571500" y="697260"/>
            <a:chExt cx="11529060" cy="359476"/>
          </a:xfrm>
        </p:grpSpPr>
        <p:cxnSp>
          <p:nvCxnSpPr>
            <p:cNvPr id="10" name="Connector 9"/>
            <p:cNvCxnSpPr/>
            <p:nvPr/>
          </p:nvCxnSpPr>
          <p:spPr>
            <a:xfrm>
              <a:off x="571500" y="1056736"/>
              <a:ext cx="11049000" cy="0"/>
            </a:xfrm>
            <a:prstGeom prst="line">
              <a:avLst/>
            </a:prstGeom>
            <a:ln w="19050">
              <a:solidFill>
                <a:srgbClr val="DCD8D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71500" y="697260"/>
              <a:ext cx="11529060" cy="283518"/>
            </a:xfrm>
            <a:prstGeom prst="rect">
              <a:avLst/>
            </a:prstGeom>
            <a:noFill/>
          </p:spPr>
          <p:txBody>
            <a:bodyPr wrap="square" lIns="0" rIns="0" tIns="0" bIns="0" anchor="t">
              <a:spAutoFit/>
            </a:bodyPr>
            <a:lstStyle/>
            <a:p>
              <a:pPr algn="l">
                <a:lnSpc>
                  <a:spcPct val="93000"/>
                </a:lnSpc>
              </a:pPr>
              <a:r>
                <a:rPr sz="1850" b="1">
                  <a:solidFill>
                    <a:srgbClr val="13264A"/>
                  </a:solidFill>
                  <a:latin typeface="Segoe UI Semibold"/>
                </a:rPr>
                <a:t>Le tableau de bord HTML </a:t>
              </a:r>
              <a:r>
                <a:rPr sz="950" b="1">
                  <a:solidFill>
                    <a:srgbClr val="78828F"/>
                  </a:solidFill>
                  <a:latin typeface="Segoe UI Semibold"/>
                </a:rPr>
                <a:t>SUITE</a:t>
              </a:r>
            </a:p>
          </p:txBody>
        </p:sp>
      </p:grpSp>
      <p:grpSp>
        <p:nvGrpSpPr>
          <p:cNvPr id="12" name="Bloc 1"/>
          <p:cNvGrpSpPr/>
          <p:nvPr/>
        </p:nvGrpSpPr>
        <p:grpSpPr>
          <a:xfrm>
            <a:off x="571500" y="1247477"/>
            <a:ext cx="5550027" cy="5238899"/>
            <a:chOff x="571500" y="1247477"/>
            <a:chExt cx="5550027" cy="5238899"/>
          </a:xfrm>
        </p:grpSpPr>
        <p:sp>
          <p:nvSpPr>
            <p:cNvPr id="13" name="Rounded Rectangle 12"/>
            <p:cNvSpPr/>
            <p:nvPr/>
          </p:nvSpPr>
          <p:spPr>
            <a:xfrm>
              <a:off x="571500" y="1247477"/>
              <a:ext cx="5448300" cy="5238899"/>
            </a:xfrm>
            <a:prstGeom prst="roundRect">
              <a:avLst>
                <a:gd name="adj" fmla="val 2181"/>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lm_25_comite_tableau_de_bord.png"/>
            <p:cNvPicPr>
              <a:picLocks noChangeAspect="1"/>
            </p:cNvPicPr>
            <p:nvPr/>
          </p:nvPicPr>
          <p:blipFill>
            <a:blip r:embed="rId2"/>
            <a:stretch>
              <a:fillRect/>
            </a:stretch>
          </p:blipFill>
          <p:spPr>
            <a:xfrm>
              <a:off x="581025" y="1257002"/>
              <a:ext cx="5429250" cy="4332089"/>
            </a:xfrm>
            <a:prstGeom prst="rect">
              <a:avLst/>
            </a:prstGeom>
          </p:spPr>
        </p:pic>
        <p:sp>
          <p:nvSpPr>
            <p:cNvPr id="15" name="TextBox 14"/>
            <p:cNvSpPr txBox="1"/>
            <p:nvPr/>
          </p:nvSpPr>
          <p:spPr>
            <a:xfrm>
              <a:off x="714375" y="5760542"/>
              <a:ext cx="5407152" cy="409873"/>
            </a:xfrm>
            <a:prstGeom prst="rect">
              <a:avLst/>
            </a:prstGeom>
            <a:noFill/>
          </p:spPr>
          <p:txBody>
            <a:bodyPr wrap="square" lIns="0" rIns="0" tIns="0" bIns="0" anchor="t">
              <a:spAutoFit/>
            </a:bodyPr>
            <a:lstStyle/>
            <a:p>
              <a:pPr algn="l">
                <a:lnSpc>
                  <a:spcPct val="133000"/>
                </a:lnSpc>
              </a:pPr>
              <a:r>
                <a:rPr sz="1050" b="1">
                  <a:solidFill>
                    <a:srgbClr val="BA1C3A"/>
                  </a:solidFill>
                  <a:latin typeface="Segoe UI"/>
                </a:rPr>
                <a:t>1</a:t>
              </a:r>
              <a:r>
                <a:rPr sz="1050" b="0">
                  <a:solidFill>
                    <a:srgbClr val="4A5567"/>
                  </a:solidFill>
                  <a:latin typeface="Segoe UI"/>
                </a:rPr>
                <a:t>Le comité ALM : les stratégies, leurs indicateurs et leurs limites, la décision du comité en tête.</a:t>
              </a:r>
            </a:p>
          </p:txBody>
        </p:sp>
      </p:grpSp>
      <p:grpSp>
        <p:nvGrpSpPr>
          <p:cNvPr id="16" name="Bloc 2"/>
          <p:cNvGrpSpPr/>
          <p:nvPr/>
        </p:nvGrpSpPr>
        <p:grpSpPr>
          <a:xfrm>
            <a:off x="6172200" y="1247477"/>
            <a:ext cx="5550028" cy="5238899"/>
            <a:chOff x="6172200" y="1247477"/>
            <a:chExt cx="5550028" cy="5238899"/>
          </a:xfrm>
        </p:grpSpPr>
        <p:sp>
          <p:nvSpPr>
            <p:cNvPr id="17" name="Rounded Rectangle 16"/>
            <p:cNvSpPr/>
            <p:nvPr/>
          </p:nvSpPr>
          <p:spPr>
            <a:xfrm>
              <a:off x="6172200" y="1247477"/>
              <a:ext cx="5448300" cy="5238899"/>
            </a:xfrm>
            <a:prstGeom prst="roundRect">
              <a:avLst>
                <a:gd name="adj" fmla="val 2181"/>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m_09_distribution.png"/>
            <p:cNvPicPr>
              <a:picLocks noChangeAspect="1"/>
            </p:cNvPicPr>
            <p:nvPr/>
          </p:nvPicPr>
          <p:blipFill>
            <a:blip r:embed="rId3"/>
            <a:stretch>
              <a:fillRect/>
            </a:stretch>
          </p:blipFill>
          <p:spPr>
            <a:xfrm>
              <a:off x="6181725" y="1257002"/>
              <a:ext cx="5429251" cy="4752975"/>
            </a:xfrm>
            <a:prstGeom prst="rect">
              <a:avLst/>
            </a:prstGeom>
          </p:spPr>
        </p:pic>
        <p:sp>
          <p:nvSpPr>
            <p:cNvPr id="19" name="TextBox 18"/>
            <p:cNvSpPr txBox="1"/>
            <p:nvPr/>
          </p:nvSpPr>
          <p:spPr>
            <a:xfrm>
              <a:off x="6315075" y="6181427"/>
              <a:ext cx="5407153" cy="200174"/>
            </a:xfrm>
            <a:prstGeom prst="rect">
              <a:avLst/>
            </a:prstGeom>
            <a:noFill/>
          </p:spPr>
          <p:txBody>
            <a:bodyPr wrap="square" lIns="0" rIns="0" tIns="0" bIns="0" anchor="t">
              <a:spAutoFit/>
            </a:bodyPr>
            <a:lstStyle/>
            <a:p>
              <a:pPr algn="l">
                <a:lnSpc>
                  <a:spcPct val="133000"/>
                </a:lnSpc>
              </a:pPr>
              <a:r>
                <a:rPr sz="1050" b="1">
                  <a:solidFill>
                    <a:srgbClr val="BA1C3A"/>
                  </a:solidFill>
                  <a:latin typeface="Segoe UI"/>
                </a:rPr>
                <a:t>2</a:t>
              </a:r>
              <a:r>
                <a:rPr sz="1050" b="0">
                  <a:solidFill>
                    <a:srgbClr val="4A5567"/>
                  </a:solidFill>
                  <a:latin typeface="Segoe UI"/>
                </a:rPr>
                <a:t>Les résultats : la distribution des valeurs suivies, sur le même calcul.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Bandeau"/>
          <p:cNvGrpSpPr/>
          <p:nvPr/>
        </p:nvGrpSpPr>
        <p:grpSpPr>
          <a:xfrm>
            <a:off x="0" y="0"/>
            <a:ext cx="12192000" cy="478036"/>
            <a:chOff x="0" y="0"/>
            <a:chExt cx="12192000" cy="478036"/>
          </a:xfrm>
        </p:grpSpPr>
        <p:sp>
          <p:nvSpPr>
            <p:cNvPr id="3" name="Rectangle 2"/>
            <p:cNvSpPr/>
            <p:nvPr/>
          </p:nvSpPr>
          <p:spPr>
            <a:xfrm>
              <a:off x="0" y="0"/>
              <a:ext cx="12192000" cy="478036"/>
            </a:xfrm>
            <a:prstGeom prst="rect">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3850" y="155972"/>
              <a:ext cx="3041166" cy="175468"/>
            </a:xfrm>
            <a:prstGeom prst="rect">
              <a:avLst/>
            </a:prstGeom>
            <a:noFill/>
          </p:spPr>
          <p:txBody>
            <a:bodyPr wrap="square" lIns="0" rIns="0" tIns="0" bIns="0" anchor="t">
              <a:spAutoFit/>
            </a:bodyPr>
            <a:lstStyle/>
            <a:p>
              <a:pPr algn="l">
                <a:lnSpc>
                  <a:spcPct val="133000"/>
                </a:lnSpc>
              </a:pPr>
              <a:r>
                <a:rPr sz="850" b="1">
                  <a:solidFill>
                    <a:srgbClr val="BA1C3A"/>
                  </a:solidFill>
                  <a:latin typeface="Segoe UI Semibold"/>
                </a:rPr>
                <a:t>3 · COMMUNICATION ET TABLEAUX DE BORD</a:t>
              </a:r>
            </a:p>
          </p:txBody>
        </p:sp>
        <p:sp>
          <p:nvSpPr>
            <p:cNvPr id="5" name="TextBox 4"/>
            <p:cNvSpPr txBox="1"/>
            <p:nvPr/>
          </p:nvSpPr>
          <p:spPr>
            <a:xfrm>
              <a:off x="3325713"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6" name="TextBox 5"/>
            <p:cNvSpPr txBox="1"/>
            <p:nvPr/>
          </p:nvSpPr>
          <p:spPr>
            <a:xfrm>
              <a:off x="3502372" y="143768"/>
              <a:ext cx="853023" cy="200025"/>
            </a:xfrm>
            <a:prstGeom prst="rect">
              <a:avLst/>
            </a:prstGeom>
            <a:noFill/>
          </p:spPr>
          <p:txBody>
            <a:bodyPr wrap="square" lIns="0" rIns="0" tIns="0" bIns="0" anchor="t">
              <a:spAutoFit/>
            </a:bodyPr>
            <a:lstStyle/>
            <a:p>
              <a:pPr algn="l">
                <a:lnSpc>
                  <a:spcPct val="133000"/>
                </a:lnSpc>
              </a:pPr>
              <a:r>
                <a:rPr sz="1000" b="1">
                  <a:solidFill>
                    <a:srgbClr val="13264A"/>
                  </a:solidFill>
                  <a:latin typeface="Segoe UI Semibold"/>
                </a:rPr>
                <a:t>3.4 Restituer</a:t>
              </a:r>
            </a:p>
          </p:txBody>
        </p:sp>
        <p:sp>
          <p:nvSpPr>
            <p:cNvPr id="7" name="TextBox 6"/>
            <p:cNvSpPr txBox="1"/>
            <p:nvPr/>
          </p:nvSpPr>
          <p:spPr>
            <a:xfrm>
              <a:off x="4400252"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8" name="TextBox 7"/>
            <p:cNvSpPr txBox="1"/>
            <p:nvPr/>
          </p:nvSpPr>
          <p:spPr>
            <a:xfrm>
              <a:off x="4576911" y="146298"/>
              <a:ext cx="2382726" cy="194965"/>
            </a:xfrm>
            <a:prstGeom prst="rect">
              <a:avLst/>
            </a:prstGeom>
            <a:noFill/>
          </p:spPr>
          <p:txBody>
            <a:bodyPr wrap="square" lIns="0" rIns="0" tIns="0" bIns="0" anchor="t">
              <a:spAutoFit/>
            </a:bodyPr>
            <a:lstStyle/>
            <a:p>
              <a:pPr algn="l">
                <a:lnSpc>
                  <a:spcPct val="133000"/>
                </a:lnSpc>
              </a:pPr>
              <a:r>
                <a:rPr sz="950" b="0">
                  <a:solidFill>
                    <a:srgbClr val="4A5567"/>
                  </a:solidFill>
                  <a:latin typeface="Segoe UI"/>
                </a:rPr>
                <a:t>Le rapport : un gabarit, l'IA, puis le PDF</a:t>
              </a:r>
            </a:p>
          </p:txBody>
        </p:sp>
      </p:grpSp>
      <p:grpSp>
        <p:nvGrpSpPr>
          <p:cNvPr id="9" name="Titre"/>
          <p:cNvGrpSpPr/>
          <p:nvPr/>
        </p:nvGrpSpPr>
        <p:grpSpPr>
          <a:xfrm>
            <a:off x="571500" y="733127"/>
            <a:ext cx="11529060" cy="359477"/>
            <a:chOff x="571500" y="733127"/>
            <a:chExt cx="11529060" cy="359477"/>
          </a:xfrm>
        </p:grpSpPr>
        <p:cxnSp>
          <p:nvCxnSpPr>
            <p:cNvPr id="10" name="Connector 9"/>
            <p:cNvCxnSpPr/>
            <p:nvPr/>
          </p:nvCxnSpPr>
          <p:spPr>
            <a:xfrm>
              <a:off x="571500" y="1092604"/>
              <a:ext cx="11049000" cy="0"/>
            </a:xfrm>
            <a:prstGeom prst="line">
              <a:avLst/>
            </a:prstGeom>
            <a:ln w="19050">
              <a:solidFill>
                <a:srgbClr val="DCD8D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71500" y="733127"/>
              <a:ext cx="11529060" cy="283518"/>
            </a:xfrm>
            <a:prstGeom prst="rect">
              <a:avLst/>
            </a:prstGeom>
            <a:noFill/>
          </p:spPr>
          <p:txBody>
            <a:bodyPr wrap="square" lIns="0" rIns="0" tIns="0" bIns="0" anchor="t">
              <a:spAutoFit/>
            </a:bodyPr>
            <a:lstStyle/>
            <a:p>
              <a:pPr algn="l">
                <a:lnSpc>
                  <a:spcPct val="93000"/>
                </a:lnSpc>
              </a:pPr>
              <a:r>
                <a:rPr sz="1850" b="1">
                  <a:solidFill>
                    <a:srgbClr val="13264A"/>
                  </a:solidFill>
                  <a:latin typeface="Segoe UI Semibold"/>
                </a:rPr>
                <a:t>Le rapport : un gabarit, l'IA, puis le PDF</a:t>
              </a:r>
            </a:p>
          </p:txBody>
        </p:sp>
      </p:grpSp>
      <p:grpSp>
        <p:nvGrpSpPr>
          <p:cNvPr id="12" name="Bloc 1"/>
          <p:cNvGrpSpPr/>
          <p:nvPr/>
        </p:nvGrpSpPr>
        <p:grpSpPr>
          <a:xfrm>
            <a:off x="571500" y="1283345"/>
            <a:ext cx="11529060" cy="776883"/>
            <a:chOff x="571500" y="1283345"/>
            <a:chExt cx="11529060" cy="776883"/>
          </a:xfrm>
        </p:grpSpPr>
        <p:sp>
          <p:nvSpPr>
            <p:cNvPr id="13" name="TextBox 12"/>
            <p:cNvSpPr txBox="1"/>
            <p:nvPr/>
          </p:nvSpPr>
          <p:spPr>
            <a:xfrm>
              <a:off x="571500" y="1283345"/>
              <a:ext cx="11529060" cy="776883"/>
            </a:xfrm>
            <a:prstGeom prst="rect">
              <a:avLst/>
            </a:prstGeom>
            <a:noFill/>
          </p:spPr>
          <p:txBody>
            <a:bodyPr wrap="square" lIns="0" rIns="0" tIns="0" bIns="0" anchor="t">
              <a:spAutoFit/>
            </a:bodyPr>
            <a:lstStyle/>
            <a:p>
              <a:pPr algn="l">
                <a:lnSpc>
                  <a:spcPct val="133000"/>
                </a:lnSpc>
              </a:pPr>
              <a:r>
                <a:rPr sz="1300" b="0">
                  <a:solidFill>
                    <a:srgbClr val="1F2733"/>
                  </a:solidFill>
                  <a:latin typeface="Segoe UI"/>
                </a:rPr>
                <a:t>On peut demander à l'IA de rédiger le rapport directement. Avec un gabarit, c'est encore mieux : les sections sont fixées, les tableaux et les images sont alignés, et l'IA remplit à partir des chiffres. Le temps qu'on passait à déplacer une image ou à recaler une colonne disparaît. Et puisque le rapport finit le plus souvent en PDF, il peut s'écrire directement en HTML, avec ses couleurs : le navigateur l'imprime en PDF tel quel.</a:t>
              </a:r>
            </a:p>
          </p:txBody>
        </p:sp>
      </p:grpSp>
      <p:grpSp>
        <p:nvGrpSpPr>
          <p:cNvPr id="14" name="Bloc 2"/>
          <p:cNvGrpSpPr/>
          <p:nvPr/>
        </p:nvGrpSpPr>
        <p:grpSpPr>
          <a:xfrm>
            <a:off x="571500" y="2231678"/>
            <a:ext cx="11320653" cy="761851"/>
            <a:chOff x="571500" y="2231678"/>
            <a:chExt cx="11320653" cy="761851"/>
          </a:xfrm>
        </p:grpSpPr>
        <p:sp>
          <p:nvSpPr>
            <p:cNvPr id="15" name="Rounded Rectangle 14"/>
            <p:cNvSpPr/>
            <p:nvPr/>
          </p:nvSpPr>
          <p:spPr>
            <a:xfrm>
              <a:off x="571500" y="2231678"/>
              <a:ext cx="11049000" cy="761851"/>
            </a:xfrm>
            <a:prstGeom prst="roundRect">
              <a:avLst>
                <a:gd name="adj" fmla="val 22504"/>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2950" y="2393603"/>
              <a:ext cx="266700" cy="266700"/>
            </a:xfrm>
            <a:prstGeom prst="ellipse">
              <a:avLst/>
            </a:prstGeom>
            <a:solidFill>
              <a:srgbClr val="132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8" b="1">
                  <a:solidFill>
                    <a:srgbClr val="FFFFFF"/>
                  </a:solidFill>
                  <a:latin typeface="Segoe UI Semibold"/>
                </a:rPr>
                <a:t>1</a:t>
              </a:r>
            </a:p>
          </p:txBody>
        </p:sp>
        <p:sp>
          <p:nvSpPr>
            <p:cNvPr id="17" name="TextBox 16"/>
            <p:cNvSpPr txBox="1"/>
            <p:nvPr/>
          </p:nvSpPr>
          <p:spPr>
            <a:xfrm>
              <a:off x="1076325" y="2355503"/>
              <a:ext cx="10815828" cy="258961"/>
            </a:xfrm>
            <a:prstGeom prst="rect">
              <a:avLst/>
            </a:prstGeom>
            <a:noFill/>
          </p:spPr>
          <p:txBody>
            <a:bodyPr wrap="square" lIns="0" rIns="0" tIns="0" bIns="0" anchor="t">
              <a:spAutoFit/>
            </a:bodyPr>
            <a:lstStyle/>
            <a:p>
              <a:pPr algn="l">
                <a:lnSpc>
                  <a:spcPct val="133000"/>
                </a:lnSpc>
              </a:pPr>
              <a:r>
                <a:rPr sz="1300" b="1">
                  <a:solidFill>
                    <a:srgbClr val="13264A"/>
                  </a:solidFill>
                  <a:latin typeface="Segoe UI"/>
                </a:rPr>
                <a:t>Le gabarit</a:t>
              </a:r>
            </a:p>
          </p:txBody>
        </p:sp>
        <p:sp>
          <p:nvSpPr>
            <p:cNvPr id="18" name="TextBox 17"/>
            <p:cNvSpPr txBox="1"/>
            <p:nvPr/>
          </p:nvSpPr>
          <p:spPr>
            <a:xfrm>
              <a:off x="1076325" y="2643039"/>
              <a:ext cx="10815828" cy="226665"/>
            </a:xfrm>
            <a:prstGeom prst="rect">
              <a:avLst/>
            </a:prstGeom>
            <a:noFill/>
          </p:spPr>
          <p:txBody>
            <a:bodyPr wrap="square" lIns="0" rIns="0" tIns="0" bIns="0" anchor="t">
              <a:spAutoFit/>
            </a:bodyPr>
            <a:lstStyle/>
            <a:p>
              <a:pPr algn="l">
                <a:lnSpc>
                  <a:spcPct val="133000"/>
                </a:lnSpc>
              </a:pPr>
              <a:r>
                <a:rPr sz="1100" b="0">
                  <a:solidFill>
                    <a:srgbClr val="4A5567"/>
                  </a:solidFill>
                  <a:latin typeface="Segoe UI"/>
                </a:rPr>
                <a:t>Les sections dans l'ordre où le lecteur les lit, la place de chaque table et de chaque figure, la feuille de style. Il s'écrit une fois.</a:t>
              </a:r>
            </a:p>
          </p:txBody>
        </p:sp>
      </p:grpSp>
      <p:grpSp>
        <p:nvGrpSpPr>
          <p:cNvPr id="19" name="Bloc 3"/>
          <p:cNvGrpSpPr/>
          <p:nvPr/>
        </p:nvGrpSpPr>
        <p:grpSpPr>
          <a:xfrm>
            <a:off x="571500" y="3088779"/>
            <a:ext cx="11320653" cy="761851"/>
            <a:chOff x="571500" y="3088779"/>
            <a:chExt cx="11320653" cy="761851"/>
          </a:xfrm>
        </p:grpSpPr>
        <p:sp>
          <p:nvSpPr>
            <p:cNvPr id="20" name="Rounded Rectangle 19"/>
            <p:cNvSpPr/>
            <p:nvPr/>
          </p:nvSpPr>
          <p:spPr>
            <a:xfrm>
              <a:off x="571500" y="3088779"/>
              <a:ext cx="11049000" cy="761851"/>
            </a:xfrm>
            <a:prstGeom prst="roundRect">
              <a:avLst>
                <a:gd name="adj" fmla="val 22504"/>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2950" y="3250704"/>
              <a:ext cx="266700" cy="266700"/>
            </a:xfrm>
            <a:prstGeom prst="ellipse">
              <a:avLst/>
            </a:prstGeom>
            <a:solidFill>
              <a:srgbClr val="132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8" b="1">
                  <a:solidFill>
                    <a:srgbClr val="FFFFFF"/>
                  </a:solidFill>
                  <a:latin typeface="Segoe UI Semibold"/>
                </a:rPr>
                <a:t>2</a:t>
              </a:r>
            </a:p>
          </p:txBody>
        </p:sp>
        <p:sp>
          <p:nvSpPr>
            <p:cNvPr id="22" name="TextBox 21"/>
            <p:cNvSpPr txBox="1"/>
            <p:nvPr/>
          </p:nvSpPr>
          <p:spPr>
            <a:xfrm>
              <a:off x="1076325" y="3212604"/>
              <a:ext cx="10815828" cy="258961"/>
            </a:xfrm>
            <a:prstGeom prst="rect">
              <a:avLst/>
            </a:prstGeom>
            <a:noFill/>
          </p:spPr>
          <p:txBody>
            <a:bodyPr wrap="square" lIns="0" rIns="0" tIns="0" bIns="0" anchor="t">
              <a:spAutoFit/>
            </a:bodyPr>
            <a:lstStyle/>
            <a:p>
              <a:pPr algn="l">
                <a:lnSpc>
                  <a:spcPct val="133000"/>
                </a:lnSpc>
              </a:pPr>
              <a:r>
                <a:rPr sz="1300" b="1">
                  <a:solidFill>
                    <a:srgbClr val="13264A"/>
                  </a:solidFill>
                  <a:latin typeface="Segoe UI"/>
                </a:rPr>
                <a:t>Les chiffres</a:t>
              </a:r>
            </a:p>
          </p:txBody>
        </p:sp>
        <p:sp>
          <p:nvSpPr>
            <p:cNvPr id="23" name="TextBox 22"/>
            <p:cNvSpPr txBox="1"/>
            <p:nvPr/>
          </p:nvSpPr>
          <p:spPr>
            <a:xfrm>
              <a:off x="1076325" y="3500140"/>
              <a:ext cx="10815828" cy="226665"/>
            </a:xfrm>
            <a:prstGeom prst="rect">
              <a:avLst/>
            </a:prstGeom>
            <a:noFill/>
          </p:spPr>
          <p:txBody>
            <a:bodyPr wrap="square" lIns="0" rIns="0" tIns="0" bIns="0" anchor="t">
              <a:spAutoFit/>
            </a:bodyPr>
            <a:lstStyle/>
            <a:p>
              <a:pPr algn="l">
                <a:lnSpc>
                  <a:spcPct val="133000"/>
                </a:lnSpc>
              </a:pPr>
              <a:r>
                <a:rPr sz="1100" b="0">
                  <a:solidFill>
                    <a:srgbClr val="4A5567"/>
                  </a:solidFill>
                  <a:latin typeface="Segoe UI"/>
                </a:rPr>
                <a:t>Ils viennent de l'exécution ou de l'écran, jamais d'une saisie. Les tables et les figures se remplissent seules.</a:t>
              </a:r>
            </a:p>
          </p:txBody>
        </p:sp>
      </p:grpSp>
      <p:grpSp>
        <p:nvGrpSpPr>
          <p:cNvPr id="24" name="Bloc 4"/>
          <p:cNvGrpSpPr/>
          <p:nvPr/>
        </p:nvGrpSpPr>
        <p:grpSpPr>
          <a:xfrm>
            <a:off x="571500" y="3945880"/>
            <a:ext cx="11320653" cy="761851"/>
            <a:chOff x="571500" y="3945880"/>
            <a:chExt cx="11320653" cy="761851"/>
          </a:xfrm>
        </p:grpSpPr>
        <p:sp>
          <p:nvSpPr>
            <p:cNvPr id="25" name="Rounded Rectangle 24"/>
            <p:cNvSpPr/>
            <p:nvPr/>
          </p:nvSpPr>
          <p:spPr>
            <a:xfrm>
              <a:off x="571500" y="3945880"/>
              <a:ext cx="11049000" cy="761851"/>
            </a:xfrm>
            <a:prstGeom prst="roundRect">
              <a:avLst>
                <a:gd name="adj" fmla="val 22504"/>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2950" y="4107805"/>
              <a:ext cx="266700" cy="266700"/>
            </a:xfrm>
            <a:prstGeom prst="ellipse">
              <a:avLst/>
            </a:prstGeom>
            <a:solidFill>
              <a:srgbClr val="132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8" b="1">
                  <a:solidFill>
                    <a:srgbClr val="FFFFFF"/>
                  </a:solidFill>
                  <a:latin typeface="Segoe UI Semibold"/>
                </a:rPr>
                <a:t>3</a:t>
              </a:r>
            </a:p>
          </p:txBody>
        </p:sp>
        <p:sp>
          <p:nvSpPr>
            <p:cNvPr id="27" name="TextBox 26"/>
            <p:cNvSpPr txBox="1"/>
            <p:nvPr/>
          </p:nvSpPr>
          <p:spPr>
            <a:xfrm>
              <a:off x="1076325" y="4069705"/>
              <a:ext cx="10815828" cy="258961"/>
            </a:xfrm>
            <a:prstGeom prst="rect">
              <a:avLst/>
            </a:prstGeom>
            <a:noFill/>
          </p:spPr>
          <p:txBody>
            <a:bodyPr wrap="square" lIns="0" rIns="0" tIns="0" bIns="0" anchor="t">
              <a:spAutoFit/>
            </a:bodyPr>
            <a:lstStyle/>
            <a:p>
              <a:pPr algn="l">
                <a:lnSpc>
                  <a:spcPct val="133000"/>
                </a:lnSpc>
              </a:pPr>
              <a:r>
                <a:rPr sz="1300" b="1">
                  <a:solidFill>
                    <a:srgbClr val="13264A"/>
                  </a:solidFill>
                  <a:latin typeface="Segoe UI"/>
                </a:rPr>
                <a:t>Le texte rédigé par l'IA</a:t>
              </a:r>
            </a:p>
          </p:txBody>
        </p:sp>
        <p:sp>
          <p:nvSpPr>
            <p:cNvPr id="28" name="TextBox 27"/>
            <p:cNvSpPr txBox="1"/>
            <p:nvPr/>
          </p:nvSpPr>
          <p:spPr>
            <a:xfrm>
              <a:off x="1076325" y="4357241"/>
              <a:ext cx="10815828" cy="226665"/>
            </a:xfrm>
            <a:prstGeom prst="rect">
              <a:avLst/>
            </a:prstGeom>
            <a:noFill/>
          </p:spPr>
          <p:txBody>
            <a:bodyPr wrap="square" lIns="0" rIns="0" tIns="0" bIns="0" anchor="t">
              <a:spAutoFit/>
            </a:bodyPr>
            <a:lstStyle/>
            <a:p>
              <a:pPr algn="l">
                <a:lnSpc>
                  <a:spcPct val="133000"/>
                </a:lnSpc>
              </a:pPr>
              <a:r>
                <a:rPr sz="1100" b="0">
                  <a:solidFill>
                    <a:srgbClr val="4A5567"/>
                  </a:solidFill>
                  <a:latin typeface="Segoe UI"/>
                </a:rPr>
                <a:t>La synthèse, écrite à partir des chiffres du rapport, et marquée comme telle. Chaque phrase reprend un chiffre qu'on retrouve dans une table.</a:t>
              </a:r>
            </a:p>
          </p:txBody>
        </p:sp>
      </p:grpSp>
      <p:grpSp>
        <p:nvGrpSpPr>
          <p:cNvPr id="29" name="Bloc 5"/>
          <p:cNvGrpSpPr/>
          <p:nvPr/>
        </p:nvGrpSpPr>
        <p:grpSpPr>
          <a:xfrm>
            <a:off x="571500" y="4802981"/>
            <a:ext cx="11320653" cy="761851"/>
            <a:chOff x="571500" y="4802981"/>
            <a:chExt cx="11320653" cy="761851"/>
          </a:xfrm>
        </p:grpSpPr>
        <p:sp>
          <p:nvSpPr>
            <p:cNvPr id="30" name="Rounded Rectangle 29"/>
            <p:cNvSpPr/>
            <p:nvPr/>
          </p:nvSpPr>
          <p:spPr>
            <a:xfrm>
              <a:off x="571500" y="4802981"/>
              <a:ext cx="11049000" cy="761851"/>
            </a:xfrm>
            <a:prstGeom prst="roundRect">
              <a:avLst>
                <a:gd name="adj" fmla="val 22504"/>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2950" y="4964906"/>
              <a:ext cx="266700" cy="266700"/>
            </a:xfrm>
            <a:prstGeom prst="ellipse">
              <a:avLst/>
            </a:prstGeom>
            <a:solidFill>
              <a:srgbClr val="132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8" b="1">
                  <a:solidFill>
                    <a:srgbClr val="FFFFFF"/>
                  </a:solidFill>
                  <a:latin typeface="Segoe UI Semibold"/>
                </a:rPr>
                <a:t>4</a:t>
              </a:r>
            </a:p>
          </p:txBody>
        </p:sp>
        <p:sp>
          <p:nvSpPr>
            <p:cNvPr id="32" name="TextBox 31"/>
            <p:cNvSpPr txBox="1"/>
            <p:nvPr/>
          </p:nvSpPr>
          <p:spPr>
            <a:xfrm>
              <a:off x="1076325" y="4926807"/>
              <a:ext cx="10815828" cy="258960"/>
            </a:xfrm>
            <a:prstGeom prst="rect">
              <a:avLst/>
            </a:prstGeom>
            <a:noFill/>
          </p:spPr>
          <p:txBody>
            <a:bodyPr wrap="square" lIns="0" rIns="0" tIns="0" bIns="0" anchor="t">
              <a:spAutoFit/>
            </a:bodyPr>
            <a:lstStyle/>
            <a:p>
              <a:pPr algn="l">
                <a:lnSpc>
                  <a:spcPct val="133000"/>
                </a:lnSpc>
              </a:pPr>
              <a:r>
                <a:rPr sz="1300" b="1">
                  <a:solidFill>
                    <a:srgbClr val="13264A"/>
                  </a:solidFill>
                  <a:latin typeface="Segoe UI"/>
                </a:rPr>
                <a:t>La relecture</a:t>
              </a:r>
            </a:p>
          </p:txBody>
        </p:sp>
        <p:sp>
          <p:nvSpPr>
            <p:cNvPr id="33" name="TextBox 32"/>
            <p:cNvSpPr txBox="1"/>
            <p:nvPr/>
          </p:nvSpPr>
          <p:spPr>
            <a:xfrm>
              <a:off x="1076325" y="5214342"/>
              <a:ext cx="10815828" cy="226665"/>
            </a:xfrm>
            <a:prstGeom prst="rect">
              <a:avLst/>
            </a:prstGeom>
            <a:noFill/>
          </p:spPr>
          <p:txBody>
            <a:bodyPr wrap="square" lIns="0" rIns="0" tIns="0" bIns="0" anchor="t">
              <a:spAutoFit/>
            </a:bodyPr>
            <a:lstStyle/>
            <a:p>
              <a:pPr algn="l">
                <a:lnSpc>
                  <a:spcPct val="133000"/>
                </a:lnSpc>
              </a:pPr>
              <a:r>
                <a:rPr sz="1100" b="0">
                  <a:solidFill>
                    <a:srgbClr val="4A5567"/>
                  </a:solidFill>
                  <a:latin typeface="Segoe UI"/>
                </a:rPr>
                <a:t>L'actuaire relit le texte rédigé, ajoute ce qui engage son jugement, et signe.</a:t>
              </a:r>
            </a:p>
          </p:txBody>
        </p:sp>
      </p:grpSp>
      <p:grpSp>
        <p:nvGrpSpPr>
          <p:cNvPr id="34" name="Bloc 6"/>
          <p:cNvGrpSpPr/>
          <p:nvPr/>
        </p:nvGrpSpPr>
        <p:grpSpPr>
          <a:xfrm>
            <a:off x="571500" y="5660083"/>
            <a:ext cx="11320653" cy="761851"/>
            <a:chOff x="571500" y="5660083"/>
            <a:chExt cx="11320653" cy="761851"/>
          </a:xfrm>
        </p:grpSpPr>
        <p:sp>
          <p:nvSpPr>
            <p:cNvPr id="35" name="Rounded Rectangle 34"/>
            <p:cNvSpPr/>
            <p:nvPr/>
          </p:nvSpPr>
          <p:spPr>
            <a:xfrm>
              <a:off x="571500" y="5660083"/>
              <a:ext cx="11049000" cy="761851"/>
            </a:xfrm>
            <a:prstGeom prst="roundRect">
              <a:avLst>
                <a:gd name="adj" fmla="val 22504"/>
              </a:avLst>
            </a:prstGeom>
            <a:solidFill>
              <a:srgbClr val="FFFFFF"/>
            </a:solidFill>
            <a:ln w="9525">
              <a:solidFill>
                <a:srgbClr val="DC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42950" y="5822008"/>
              <a:ext cx="266700" cy="266700"/>
            </a:xfrm>
            <a:prstGeom prst="ellipse">
              <a:avLst/>
            </a:prstGeom>
            <a:solidFill>
              <a:srgbClr val="1326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8" b="1">
                  <a:solidFill>
                    <a:srgbClr val="FFFFFF"/>
                  </a:solidFill>
                  <a:latin typeface="Segoe UI Semibold"/>
                </a:rPr>
                <a:t>5</a:t>
              </a:r>
            </a:p>
          </p:txBody>
        </p:sp>
        <p:sp>
          <p:nvSpPr>
            <p:cNvPr id="37" name="TextBox 36"/>
            <p:cNvSpPr txBox="1"/>
            <p:nvPr/>
          </p:nvSpPr>
          <p:spPr>
            <a:xfrm>
              <a:off x="1076325" y="5783908"/>
              <a:ext cx="10815828" cy="258961"/>
            </a:xfrm>
            <a:prstGeom prst="rect">
              <a:avLst/>
            </a:prstGeom>
            <a:noFill/>
          </p:spPr>
          <p:txBody>
            <a:bodyPr wrap="square" lIns="0" rIns="0" tIns="0" bIns="0" anchor="t">
              <a:spAutoFit/>
            </a:bodyPr>
            <a:lstStyle/>
            <a:p>
              <a:pPr algn="l">
                <a:lnSpc>
                  <a:spcPct val="133000"/>
                </a:lnSpc>
              </a:pPr>
              <a:r>
                <a:rPr sz="1300" b="1">
                  <a:solidFill>
                    <a:srgbClr val="13264A"/>
                  </a:solidFill>
                  <a:latin typeface="Segoe UI"/>
                </a:rPr>
                <a:t>Le PDF</a:t>
              </a:r>
            </a:p>
          </p:txBody>
        </p:sp>
        <p:sp>
          <p:nvSpPr>
            <p:cNvPr id="38" name="TextBox 37"/>
            <p:cNvSpPr txBox="1"/>
            <p:nvPr/>
          </p:nvSpPr>
          <p:spPr>
            <a:xfrm>
              <a:off x="1076325" y="6071443"/>
              <a:ext cx="10815828" cy="226666"/>
            </a:xfrm>
            <a:prstGeom prst="rect">
              <a:avLst/>
            </a:prstGeom>
            <a:noFill/>
          </p:spPr>
          <p:txBody>
            <a:bodyPr wrap="square" lIns="0" rIns="0" tIns="0" bIns="0" anchor="t">
              <a:spAutoFit/>
            </a:bodyPr>
            <a:lstStyle/>
            <a:p>
              <a:pPr algn="l">
                <a:lnSpc>
                  <a:spcPct val="133000"/>
                </a:lnSpc>
              </a:pPr>
              <a:r>
                <a:rPr sz="1100" b="0">
                  <a:solidFill>
                    <a:srgbClr val="4A5567"/>
                  </a:solidFill>
                  <a:latin typeface="Segoe UI"/>
                </a:rPr>
                <a:t>Les règles d'impression de la page fixent le format A4 et empêchent qu'une table ou une figure se coupe en deux. Imprimer suffit.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Bandeau"/>
          <p:cNvGrpSpPr/>
          <p:nvPr/>
        </p:nvGrpSpPr>
        <p:grpSpPr>
          <a:xfrm>
            <a:off x="0" y="0"/>
            <a:ext cx="12192000" cy="478036"/>
            <a:chOff x="0" y="0"/>
            <a:chExt cx="12192000" cy="478036"/>
          </a:xfrm>
        </p:grpSpPr>
        <p:sp>
          <p:nvSpPr>
            <p:cNvPr id="3" name="Rectangle 2"/>
            <p:cNvSpPr/>
            <p:nvPr/>
          </p:nvSpPr>
          <p:spPr>
            <a:xfrm>
              <a:off x="0" y="0"/>
              <a:ext cx="12192000" cy="478036"/>
            </a:xfrm>
            <a:prstGeom prst="rect">
              <a:avLst/>
            </a:prstGeom>
            <a:solidFill>
              <a:srgbClr val="F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3850" y="155972"/>
              <a:ext cx="3041166" cy="175468"/>
            </a:xfrm>
            <a:prstGeom prst="rect">
              <a:avLst/>
            </a:prstGeom>
            <a:noFill/>
          </p:spPr>
          <p:txBody>
            <a:bodyPr wrap="square" lIns="0" rIns="0" tIns="0" bIns="0" anchor="t">
              <a:spAutoFit/>
            </a:bodyPr>
            <a:lstStyle/>
            <a:p>
              <a:pPr algn="l">
                <a:lnSpc>
                  <a:spcPct val="133000"/>
                </a:lnSpc>
              </a:pPr>
              <a:r>
                <a:rPr sz="850" b="1">
                  <a:solidFill>
                    <a:srgbClr val="BA1C3A"/>
                  </a:solidFill>
                  <a:latin typeface="Segoe UI Semibold"/>
                </a:rPr>
                <a:t>3 · COMMUNICATION ET TABLEAUX DE BORD</a:t>
              </a:r>
            </a:p>
          </p:txBody>
        </p:sp>
        <p:sp>
          <p:nvSpPr>
            <p:cNvPr id="5" name="TextBox 4"/>
            <p:cNvSpPr txBox="1"/>
            <p:nvPr/>
          </p:nvSpPr>
          <p:spPr>
            <a:xfrm>
              <a:off x="3325713"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6" name="TextBox 5"/>
            <p:cNvSpPr txBox="1"/>
            <p:nvPr/>
          </p:nvSpPr>
          <p:spPr>
            <a:xfrm>
              <a:off x="3502372" y="143768"/>
              <a:ext cx="853023" cy="200025"/>
            </a:xfrm>
            <a:prstGeom prst="rect">
              <a:avLst/>
            </a:prstGeom>
            <a:noFill/>
          </p:spPr>
          <p:txBody>
            <a:bodyPr wrap="square" lIns="0" rIns="0" tIns="0" bIns="0" anchor="t">
              <a:spAutoFit/>
            </a:bodyPr>
            <a:lstStyle/>
            <a:p>
              <a:pPr algn="l">
                <a:lnSpc>
                  <a:spcPct val="133000"/>
                </a:lnSpc>
              </a:pPr>
              <a:r>
                <a:rPr sz="1000" b="1">
                  <a:solidFill>
                    <a:srgbClr val="13264A"/>
                  </a:solidFill>
                  <a:latin typeface="Segoe UI Semibold"/>
                </a:rPr>
                <a:t>3.4 Restituer</a:t>
              </a:r>
            </a:p>
          </p:txBody>
        </p:sp>
        <p:sp>
          <p:nvSpPr>
            <p:cNvPr id="7" name="TextBox 6"/>
            <p:cNvSpPr txBox="1"/>
            <p:nvPr/>
          </p:nvSpPr>
          <p:spPr>
            <a:xfrm>
              <a:off x="4400252" y="114300"/>
              <a:ext cx="102953" cy="258961"/>
            </a:xfrm>
            <a:prstGeom prst="rect">
              <a:avLst/>
            </a:prstGeom>
            <a:noFill/>
          </p:spPr>
          <p:txBody>
            <a:bodyPr wrap="square" lIns="0" rIns="0" tIns="0" bIns="0" anchor="t">
              <a:spAutoFit/>
            </a:bodyPr>
            <a:lstStyle/>
            <a:p>
              <a:pPr algn="l">
                <a:lnSpc>
                  <a:spcPct val="133000"/>
                </a:lnSpc>
              </a:pPr>
              <a:r>
                <a:rPr sz="1300" b="0">
                  <a:solidFill>
                    <a:srgbClr val="78828F"/>
                  </a:solidFill>
                  <a:latin typeface="Segoe UI"/>
                </a:rPr>
                <a:t>›</a:t>
              </a:r>
            </a:p>
          </p:txBody>
        </p:sp>
        <p:sp>
          <p:nvSpPr>
            <p:cNvPr id="8" name="TextBox 7"/>
            <p:cNvSpPr txBox="1"/>
            <p:nvPr/>
          </p:nvSpPr>
          <p:spPr>
            <a:xfrm>
              <a:off x="4576911" y="146298"/>
              <a:ext cx="3334167" cy="194965"/>
            </a:xfrm>
            <a:prstGeom prst="rect">
              <a:avLst/>
            </a:prstGeom>
            <a:noFill/>
          </p:spPr>
          <p:txBody>
            <a:bodyPr wrap="square" lIns="0" rIns="0" tIns="0" bIns="0" anchor="t">
              <a:spAutoFit/>
            </a:bodyPr>
            <a:lstStyle/>
            <a:p>
              <a:pPr algn="l">
                <a:lnSpc>
                  <a:spcPct val="133000"/>
                </a:lnSpc>
              </a:pPr>
              <a:r>
                <a:rPr sz="950" b="0">
                  <a:solidFill>
                    <a:srgbClr val="4A5567"/>
                  </a:solidFill>
                  <a:latin typeface="Segoe UI"/>
                </a:rPr>
                <a:t>Les diapositives : d'abord en HTML, puis le PowerPoint</a:t>
              </a:r>
            </a:p>
          </p:txBody>
        </p:sp>
      </p:grpSp>
      <p:grpSp>
        <p:nvGrpSpPr>
          <p:cNvPr id="9" name="Titre"/>
          <p:cNvGrpSpPr/>
          <p:nvPr/>
        </p:nvGrpSpPr>
        <p:grpSpPr>
          <a:xfrm>
            <a:off x="571500" y="1196876"/>
            <a:ext cx="11529060" cy="359476"/>
            <a:chOff x="571500" y="1196876"/>
            <a:chExt cx="11529060" cy="359476"/>
          </a:xfrm>
        </p:grpSpPr>
        <p:cxnSp>
          <p:nvCxnSpPr>
            <p:cNvPr id="10" name="Connector 9"/>
            <p:cNvCxnSpPr/>
            <p:nvPr/>
          </p:nvCxnSpPr>
          <p:spPr>
            <a:xfrm>
              <a:off x="571500" y="1556352"/>
              <a:ext cx="11049000" cy="0"/>
            </a:xfrm>
            <a:prstGeom prst="line">
              <a:avLst/>
            </a:prstGeom>
            <a:ln w="19050">
              <a:solidFill>
                <a:srgbClr val="DCD8D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71500" y="1196876"/>
              <a:ext cx="11529060" cy="283518"/>
            </a:xfrm>
            <a:prstGeom prst="rect">
              <a:avLst/>
            </a:prstGeom>
            <a:noFill/>
          </p:spPr>
          <p:txBody>
            <a:bodyPr wrap="square" lIns="0" rIns="0" tIns="0" bIns="0" anchor="t">
              <a:spAutoFit/>
            </a:bodyPr>
            <a:lstStyle/>
            <a:p>
              <a:pPr algn="l">
                <a:lnSpc>
                  <a:spcPct val="93000"/>
                </a:lnSpc>
              </a:pPr>
              <a:r>
                <a:rPr sz="1850" b="1">
                  <a:solidFill>
                    <a:srgbClr val="13264A"/>
                  </a:solidFill>
                  <a:latin typeface="Segoe UI Semibold"/>
                </a:rPr>
                <a:t>Les diapositives : d'abord en HTML, puis le PowerPoint</a:t>
              </a:r>
            </a:p>
          </p:txBody>
        </p:sp>
      </p:grpSp>
      <p:grpSp>
        <p:nvGrpSpPr>
          <p:cNvPr id="12" name="Bloc 1"/>
          <p:cNvGrpSpPr/>
          <p:nvPr/>
        </p:nvGrpSpPr>
        <p:grpSpPr>
          <a:xfrm>
            <a:off x="571500" y="1747093"/>
            <a:ext cx="11529060" cy="776883"/>
            <a:chOff x="571500" y="1747093"/>
            <a:chExt cx="11529060" cy="776883"/>
          </a:xfrm>
        </p:grpSpPr>
        <p:sp>
          <p:nvSpPr>
            <p:cNvPr id="13" name="TextBox 12"/>
            <p:cNvSpPr txBox="1"/>
            <p:nvPr/>
          </p:nvSpPr>
          <p:spPr>
            <a:xfrm>
              <a:off x="571500" y="1747093"/>
              <a:ext cx="11529060" cy="776883"/>
            </a:xfrm>
            <a:prstGeom prst="rect">
              <a:avLst/>
            </a:prstGeom>
            <a:noFill/>
          </p:spPr>
          <p:txBody>
            <a:bodyPr wrap="square" lIns="0" rIns="0" tIns="0" bIns="0" anchor="t">
              <a:spAutoFit/>
            </a:bodyPr>
            <a:lstStyle/>
            <a:p>
              <a:pPr algn="l">
                <a:lnSpc>
                  <a:spcPct val="133000"/>
                </a:lnSpc>
              </a:pPr>
              <a:r>
                <a:rPr sz="1300" b="0">
                  <a:solidFill>
                    <a:srgbClr val="1F2733"/>
                  </a:solidFill>
                  <a:latin typeface="Segoe UI"/>
                </a:rPr>
                <a:t>On peut demander à l'IA de faire le PowerPoint, avec ses animations : des images qui défilent, des blocs qui apparaissent l'un après l'autre. À la main, c'est très fastidieux. Le chemin le plus sûr passe par un support HTML : on y construit les diapositives et leurs animations, on les voit dans le navigateur, on les corrige. Puis on demande à l'IA de les reporter dans le PowerPoint.</a:t>
              </a:r>
            </a:p>
          </p:txBody>
        </p:sp>
      </p:grpSp>
      <p:grpSp>
        <p:nvGrpSpPr>
          <p:cNvPr id="14" name="Bloc 2"/>
          <p:cNvGrpSpPr/>
          <p:nvPr/>
        </p:nvGrpSpPr>
        <p:grpSpPr>
          <a:xfrm>
            <a:off x="571500" y="2695426"/>
            <a:ext cx="11529060" cy="1035844"/>
            <a:chOff x="571500" y="2695426"/>
            <a:chExt cx="11529060" cy="1035844"/>
          </a:xfrm>
        </p:grpSpPr>
        <p:sp>
          <p:nvSpPr>
            <p:cNvPr id="15" name="TextBox 14"/>
            <p:cNvSpPr txBox="1"/>
            <p:nvPr/>
          </p:nvSpPr>
          <p:spPr>
            <a:xfrm>
              <a:off x="571500" y="2695426"/>
              <a:ext cx="11529060" cy="1035844"/>
            </a:xfrm>
            <a:prstGeom prst="rect">
              <a:avLst/>
            </a:prstGeom>
            <a:noFill/>
          </p:spPr>
          <p:txBody>
            <a:bodyPr wrap="square" lIns="0" rIns="0" tIns="0" bIns="0" anchor="t">
              <a:spAutoFit/>
            </a:bodyPr>
            <a:lstStyle/>
            <a:p>
              <a:pPr algn="l">
                <a:lnSpc>
                  <a:spcPct val="133000"/>
                </a:lnSpc>
              </a:pPr>
              <a:r>
                <a:rPr sz="1300" b="0">
                  <a:solidFill>
                    <a:srgbClr val="1F2733"/>
                  </a:solidFill>
                  <a:latin typeface="Segoe UI"/>
                </a:rPr>
                <a:t>Les diapositives de cette formation sont ce support HTML : chaque partie se projette depuis sa page (« Projeter cette partie »), et elles se construisent depuis les pages du site. Pour l'exemple, des diapositives de ce chapitre ont été refaites dans un PowerPoint par un script écrit avec l'IA. Chaque titre, chaque bloc et chaque image y est une forme PowerPoint qu'on modifie, pas une capture collée. Chaque élément entre à son tour au clic : un fondu pour le titre, une apparition pour chaque bloc.</a:t>
              </a:r>
            </a:p>
          </p:txBody>
        </p:sp>
      </p:grpSp>
      <p:grpSp>
        <p:nvGrpSpPr>
          <p:cNvPr id="16" name="Bloc 3"/>
          <p:cNvGrpSpPr/>
          <p:nvPr/>
        </p:nvGrpSpPr>
        <p:grpSpPr>
          <a:xfrm>
            <a:off x="571500" y="3902720"/>
            <a:ext cx="3816995" cy="479227"/>
            <a:chOff x="571500" y="3902720"/>
            <a:chExt cx="3816995" cy="479227"/>
          </a:xfrm>
        </p:grpSpPr>
        <p:sp>
          <p:nvSpPr>
            <p:cNvPr id="17" name="Rounded Rectangle 16"/>
            <p:cNvSpPr/>
            <p:nvPr/>
          </p:nvSpPr>
          <p:spPr>
            <a:xfrm>
              <a:off x="571500" y="3902720"/>
              <a:ext cx="3816995" cy="479227"/>
            </a:xfrm>
            <a:prstGeom prst="roundRect">
              <a:avLst>
                <a:gd name="adj" fmla="val 50000"/>
              </a:avLst>
            </a:prstGeom>
            <a:solidFill>
              <a:srgbClr val="BA1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150" y="4026545"/>
              <a:ext cx="3492663" cy="231577"/>
            </a:xfrm>
            <a:prstGeom prst="rect">
              <a:avLst/>
            </a:prstGeom>
            <a:noFill/>
          </p:spPr>
          <p:txBody>
            <a:bodyPr wrap="square" lIns="0" rIns="0" tIns="0" bIns="0" anchor="ctr">
              <a:spAutoFit/>
            </a:bodyPr>
            <a:lstStyle/>
            <a:p>
              <a:pPr algn="l">
                <a:lnSpc>
                  <a:spcPct val="133000"/>
                </a:lnSpc>
              </a:pPr>
              <a:r>
                <a:rPr sz="1150" b="1">
                  <a:solidFill>
                    <a:srgbClr val="FFFFFF"/>
                  </a:solidFill>
                  <a:latin typeface="Segoe UI Semibold"/>
                </a:rPr>
                <a:t>Télécharger les diapositives en PowerPoint</a:t>
              </a:r>
            </a:p>
          </p:txBody>
        </p:sp>
      </p:grpSp>
      <p:grpSp>
        <p:nvGrpSpPr>
          <p:cNvPr id="19" name="Bloc 4"/>
          <p:cNvGrpSpPr/>
          <p:nvPr/>
        </p:nvGrpSpPr>
        <p:grpSpPr>
          <a:xfrm>
            <a:off x="571500" y="4543872"/>
            <a:ext cx="11251311" cy="1576239"/>
            <a:chOff x="571500" y="4543872"/>
            <a:chExt cx="11251311" cy="1576239"/>
          </a:xfrm>
        </p:grpSpPr>
        <p:sp>
          <p:nvSpPr>
            <p:cNvPr id="20" name="Rounded Rectangle 19"/>
            <p:cNvSpPr/>
            <p:nvPr/>
          </p:nvSpPr>
          <p:spPr>
            <a:xfrm>
              <a:off x="571500" y="4543872"/>
              <a:ext cx="11049000" cy="1576239"/>
            </a:xfrm>
            <a:prstGeom prst="roundRect">
              <a:avLst>
                <a:gd name="adj" fmla="val 10877"/>
              </a:avLst>
            </a:prstGeom>
            <a:solidFill>
              <a:srgbClr val="FFFFFF"/>
            </a:solidFill>
            <a:ln w="9525">
              <a:solidFill>
                <a:srgbClr val="7D92A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8675" y="4762946"/>
              <a:ext cx="3273624" cy="246906"/>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2975" y="4801046"/>
              <a:ext cx="3204924" cy="170706"/>
            </a:xfrm>
            <a:prstGeom prst="rect">
              <a:avLst/>
            </a:prstGeom>
            <a:noFill/>
          </p:spPr>
          <p:txBody>
            <a:bodyPr wrap="square" lIns="0" rIns="0" tIns="0" bIns="0" anchor="ctr">
              <a:spAutoFit/>
            </a:bodyPr>
            <a:lstStyle/>
            <a:p>
              <a:pPr algn="l">
                <a:lnSpc>
                  <a:spcPct val="133000"/>
                </a:lnSpc>
              </a:pPr>
              <a:r>
                <a:rPr sz="850" b="1">
                  <a:solidFill>
                    <a:srgbClr val="3B547D"/>
                  </a:solidFill>
                  <a:latin typeface="Segoe UI Semibold"/>
                </a:rPr>
                <a:t>LE PROMPT QUI REPORTE LE SUPPORT HTML</a:t>
              </a:r>
            </a:p>
          </p:txBody>
        </p:sp>
        <p:sp>
          <p:nvSpPr>
            <p:cNvPr id="23" name="TextBox 22"/>
            <p:cNvSpPr txBox="1"/>
            <p:nvPr/>
          </p:nvSpPr>
          <p:spPr>
            <a:xfrm>
              <a:off x="828675" y="5124152"/>
              <a:ext cx="10994136" cy="776883"/>
            </a:xfrm>
            <a:prstGeom prst="rect">
              <a:avLst/>
            </a:prstGeom>
            <a:noFill/>
          </p:spPr>
          <p:txBody>
            <a:bodyPr wrap="square" lIns="0" rIns="0" tIns="0" bIns="0" anchor="t">
              <a:spAutoFit/>
            </a:bodyPr>
            <a:lstStyle/>
            <a:p>
              <a:pPr algn="l">
                <a:lnSpc>
                  <a:spcPct val="133000"/>
                </a:lnSpc>
              </a:pPr>
              <a:r>
                <a:rPr sz="1300" b="0">
                  <a:solidFill>
                    <a:srgbClr val="1F2733"/>
                  </a:solidFill>
                  <a:latin typeface="Segoe UI"/>
                </a:rPr>
                <a:t>Voici le support HTML et ses animations. Refais ces diapositives dans un PowerPoint, avec des formes natives modifiables : un titre, des zones de texte, des images, aux mêmes places. Pour chaque diapositive, fais entrer les éléments au clic dans l'ordre du support, un fondu pour le titre, une apparition pour chaque bloc. Ouvre ensuite le fichier et dis-moi combien d'animations chaque diapositive porte.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